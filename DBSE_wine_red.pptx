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5.png"/><Relationship Id="rId7" Type="http://schemas.openxmlformats.org/officeDocument/2006/relationships/image" Target="../media/image-7-5.png"/><Relationship Id="rId8" Type="http://schemas.openxmlformats.org/officeDocument/2006/relationships/image" Target="../media/image-7-5.png"/><Relationship Id="rId9" Type="http://schemas.openxmlformats.org/officeDocument/2006/relationships/image" Target="../media/image-7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4A0E1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 ·  DISTRIBUTED BACKEND DEVELOPMENT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423160"/>
            <a:ext cx="9692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Bus Tracking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Student Safety Portal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CC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visibility. Verified student journeys. Faster safety response.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074920"/>
            <a:ext cx="7863840" cy="1234440"/>
          </a:xfrm>
          <a:prstGeom prst="roundRect">
            <a:avLst>
              <a:gd name="adj" fmla="val 7407"/>
            </a:avLst>
          </a:prstGeom>
          <a:solidFill>
            <a:srgbClr val="4A0E1E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5193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6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54681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Moksha   |   Gayatri   |   Anshu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58704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2520030515   |   2520030600   |   2520030440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46920" y="502920"/>
            <a:ext cx="1965960" cy="5760720"/>
          </a:xfrm>
          <a:prstGeom prst="roundRect">
            <a:avLst>
              <a:gd name="adj" fmla="val 4651"/>
            </a:avLst>
          </a:prstGeom>
          <a:solidFill>
            <a:srgbClr val="4A0E1E"/>
          </a:solidFill>
          <a:ln/>
        </p:spPr>
      </p:sp>
      <p:sp>
        <p:nvSpPr>
          <p:cNvPr id="11" name="Shape 9"/>
          <p:cNvSpPr/>
          <p:nvPr/>
        </p:nvSpPr>
        <p:spPr>
          <a:xfrm>
            <a:off x="9902952" y="758952"/>
            <a:ext cx="109728" cy="109728"/>
          </a:xfrm>
          <a:prstGeom prst="ellipse">
            <a:avLst/>
          </a:prstGeom>
          <a:solidFill>
            <a:srgbClr val="5FD68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67544" y="67665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CC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236708" y="4535424"/>
            <a:ext cx="491490" cy="1382573"/>
          </a:xfrm>
          <a:prstGeom prst="line">
            <a:avLst/>
          </a:prstGeom>
          <a:noFill/>
          <a:ln w="127000">
            <a:solidFill>
              <a:srgbClr val="6B1B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36708" y="4535424"/>
            <a:ext cx="491490" cy="1382573"/>
          </a:xfrm>
          <a:prstGeom prst="line">
            <a:avLst/>
          </a:prstGeom>
          <a:noFill/>
          <a:ln w="19050">
            <a:solidFill>
              <a:srgbClr val="A61B3D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0236708" y="3152851"/>
            <a:ext cx="688086" cy="1382573"/>
          </a:xfrm>
          <a:prstGeom prst="line">
            <a:avLst/>
          </a:prstGeom>
          <a:noFill/>
          <a:ln w="127000">
            <a:solidFill>
              <a:srgbClr val="6B1B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36708" y="3152851"/>
            <a:ext cx="688086" cy="1382573"/>
          </a:xfrm>
          <a:prstGeom prst="line">
            <a:avLst/>
          </a:prstGeom>
          <a:noFill/>
          <a:ln w="19050">
            <a:solidFill>
              <a:srgbClr val="A61B3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0335006" y="1770278"/>
            <a:ext cx="589788" cy="1382573"/>
          </a:xfrm>
          <a:prstGeom prst="line">
            <a:avLst/>
          </a:prstGeom>
          <a:noFill/>
          <a:ln w="127000">
            <a:solidFill>
              <a:srgbClr val="6B1B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5006" y="1770278"/>
            <a:ext cx="589788" cy="1382573"/>
          </a:xfrm>
          <a:prstGeom prst="line">
            <a:avLst/>
          </a:prstGeom>
          <a:noFill/>
          <a:ln w="19050">
            <a:solidFill>
              <a:srgbClr val="A61B3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645902" y="5835701"/>
            <a:ext cx="164592" cy="164592"/>
          </a:xfrm>
          <a:prstGeom prst="ellipse">
            <a:avLst/>
          </a:prstGeom>
          <a:solidFill>
            <a:srgbClr val="4A0E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1622" y="5881421"/>
            <a:ext cx="73152" cy="73152"/>
          </a:xfrm>
          <a:prstGeom prst="ellipse">
            <a:avLst/>
          </a:prstGeom>
          <a:solidFill>
            <a:srgbClr val="A61B3D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54412" y="4453128"/>
            <a:ext cx="164592" cy="164592"/>
          </a:xfrm>
          <a:prstGeom prst="ellipse">
            <a:avLst/>
          </a:prstGeom>
          <a:solidFill>
            <a:srgbClr val="4A0E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00132" y="4498848"/>
            <a:ext cx="73152" cy="73152"/>
          </a:xfrm>
          <a:prstGeom prst="ellipse">
            <a:avLst/>
          </a:prstGeom>
          <a:solidFill>
            <a:srgbClr val="A61B3D"/>
          </a:solidFill>
          <a:ln/>
        </p:spPr>
      </p:sp>
      <p:sp>
        <p:nvSpPr>
          <p:cNvPr id="23" name="Shape 21"/>
          <p:cNvSpPr/>
          <p:nvPr/>
        </p:nvSpPr>
        <p:spPr>
          <a:xfrm>
            <a:off x="10842498" y="3070555"/>
            <a:ext cx="164592" cy="164592"/>
          </a:xfrm>
          <a:prstGeom prst="ellipse">
            <a:avLst/>
          </a:prstGeom>
          <a:solidFill>
            <a:srgbClr val="4A0E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88218" y="3116275"/>
            <a:ext cx="73152" cy="73152"/>
          </a:xfrm>
          <a:prstGeom prst="ellipse">
            <a:avLst/>
          </a:prstGeom>
          <a:solidFill>
            <a:srgbClr val="A61B3D"/>
          </a:solidFill>
          <a:ln/>
        </p:spPr>
      </p:sp>
      <p:sp>
        <p:nvSpPr>
          <p:cNvPr id="25" name="Shape 23"/>
          <p:cNvSpPr/>
          <p:nvPr/>
        </p:nvSpPr>
        <p:spPr>
          <a:xfrm>
            <a:off x="9946386" y="1381658"/>
            <a:ext cx="777240" cy="777240"/>
          </a:xfrm>
          <a:prstGeom prst="ellipse">
            <a:avLst/>
          </a:prstGeom>
          <a:solidFill>
            <a:srgbClr val="2B0812"/>
          </a:solidFill>
          <a:ln/>
        </p:spPr>
      </p:sp>
      <p:pic>
        <p:nvPicPr>
          <p:cNvPr id="26" name="Image 0" descr="/home/claude/bus-deck/icons/bus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7427" y="1482700"/>
            <a:ext cx="575158" cy="5751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Abstract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summary of the problem, approach, and outcome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08792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640080" cy="640080"/>
          </a:xfrm>
          <a:prstGeom prst="ellipse">
            <a:avLst/>
          </a:prstGeom>
          <a:solidFill>
            <a:srgbClr val="4A0E1E"/>
          </a:solidFill>
          <a:ln/>
        </p:spPr>
      </p:sp>
      <p:pic>
        <p:nvPicPr>
          <p:cNvPr id="7" name="Image 0" descr="/home/claude/bus-deck/icons/file-alt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330" y="2277770"/>
            <a:ext cx="473659" cy="4736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148840"/>
            <a:ext cx="62179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transportation today relies on manual calls and word-of-mouth updates, leaving parents unable to see where the bus is or confirm their child boarded it safely. The School Bus Tracking &amp; Student Safety Portal solves this by unifying GPS bus tracking, student boarding and alighting verification, geofencing, and instant alerts into one centralized platform. Built on a React.js frontend and a Node.js/Express backend, the system logs every stage of a student’s journey and turns "where is the bus" into "where is my child."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366760" y="2148840"/>
            <a:ext cx="2926080" cy="2331720"/>
          </a:xfrm>
          <a:prstGeom prst="roundRect">
            <a:avLst>
              <a:gd name="adj" fmla="val 3922"/>
            </a:avLst>
          </a:prstGeom>
          <a:solidFill>
            <a:srgbClr val="4A0E1E"/>
          </a:solidFill>
          <a:ln/>
        </p:spPr>
      </p:sp>
      <p:sp>
        <p:nvSpPr>
          <p:cNvPr id="10" name="Shape 7"/>
          <p:cNvSpPr/>
          <p:nvPr/>
        </p:nvSpPr>
        <p:spPr>
          <a:xfrm>
            <a:off x="8622792" y="2404872"/>
            <a:ext cx="109728" cy="109728"/>
          </a:xfrm>
          <a:prstGeom prst="ellipse">
            <a:avLst/>
          </a:prstGeom>
          <a:solidFill>
            <a:srgbClr val="5FD68A"/>
          </a:solidFill>
          <a:ln/>
        </p:spPr>
      </p:sp>
      <p:sp>
        <p:nvSpPr>
          <p:cNvPr id="11" name="Text 8"/>
          <p:cNvSpPr/>
          <p:nvPr/>
        </p:nvSpPr>
        <p:spPr>
          <a:xfrm>
            <a:off x="8787384" y="23225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CC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9186062" y="3547872"/>
            <a:ext cx="790042" cy="652882"/>
          </a:xfrm>
          <a:prstGeom prst="line">
            <a:avLst/>
          </a:prstGeom>
          <a:noFill/>
          <a:ln w="127000">
            <a:solidFill>
              <a:srgbClr val="6B1B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86062" y="3547872"/>
            <a:ext cx="790042" cy="652882"/>
          </a:xfrm>
          <a:prstGeom prst="line">
            <a:avLst/>
          </a:prstGeom>
          <a:noFill/>
          <a:ln w="19050">
            <a:solidFill>
              <a:srgbClr val="A61B3D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9244584" y="3081528"/>
            <a:ext cx="731520" cy="466344"/>
          </a:xfrm>
          <a:prstGeom prst="line">
            <a:avLst/>
          </a:prstGeom>
          <a:noFill/>
          <a:ln w="127000">
            <a:solidFill>
              <a:srgbClr val="6B1B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244584" y="3081528"/>
            <a:ext cx="731520" cy="466344"/>
          </a:xfrm>
          <a:prstGeom prst="line">
            <a:avLst/>
          </a:prstGeom>
          <a:noFill/>
          <a:ln w="19050">
            <a:solidFill>
              <a:srgbClr val="A61B3D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9244584" y="2568550"/>
            <a:ext cx="1111910" cy="512978"/>
          </a:xfrm>
          <a:prstGeom prst="line">
            <a:avLst/>
          </a:prstGeom>
          <a:noFill/>
          <a:ln w="127000">
            <a:solidFill>
              <a:srgbClr val="6B1B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244584" y="2568550"/>
            <a:ext cx="1111910" cy="512978"/>
          </a:xfrm>
          <a:prstGeom prst="line">
            <a:avLst/>
          </a:prstGeom>
          <a:noFill/>
          <a:ln w="19050">
            <a:solidFill>
              <a:srgbClr val="A61B3D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9103766" y="4118458"/>
            <a:ext cx="164592" cy="164592"/>
          </a:xfrm>
          <a:prstGeom prst="ellipse">
            <a:avLst/>
          </a:prstGeom>
          <a:solidFill>
            <a:srgbClr val="4A0E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149486" y="4164178"/>
            <a:ext cx="73152" cy="73152"/>
          </a:xfrm>
          <a:prstGeom prst="ellipse">
            <a:avLst/>
          </a:prstGeom>
          <a:solidFill>
            <a:srgbClr val="A61B3D"/>
          </a:solidFill>
          <a:ln/>
        </p:spPr>
      </p:sp>
      <p:sp>
        <p:nvSpPr>
          <p:cNvPr id="20" name="Shape 17"/>
          <p:cNvSpPr/>
          <p:nvPr/>
        </p:nvSpPr>
        <p:spPr>
          <a:xfrm>
            <a:off x="9893808" y="3465576"/>
            <a:ext cx="164592" cy="164592"/>
          </a:xfrm>
          <a:prstGeom prst="ellipse">
            <a:avLst/>
          </a:prstGeom>
          <a:solidFill>
            <a:srgbClr val="4A0E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939528" y="3511296"/>
            <a:ext cx="73152" cy="73152"/>
          </a:xfrm>
          <a:prstGeom prst="ellipse">
            <a:avLst/>
          </a:prstGeom>
          <a:solidFill>
            <a:srgbClr val="A61B3D"/>
          </a:solidFill>
          <a:ln/>
        </p:spPr>
      </p:sp>
      <p:sp>
        <p:nvSpPr>
          <p:cNvPr id="22" name="Shape 19"/>
          <p:cNvSpPr/>
          <p:nvPr/>
        </p:nvSpPr>
        <p:spPr>
          <a:xfrm>
            <a:off x="9162288" y="2999232"/>
            <a:ext cx="164592" cy="164592"/>
          </a:xfrm>
          <a:prstGeom prst="ellipse">
            <a:avLst/>
          </a:prstGeom>
          <a:solidFill>
            <a:srgbClr val="4A0E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208008" y="3044952"/>
            <a:ext cx="73152" cy="73152"/>
          </a:xfrm>
          <a:prstGeom prst="ellipse">
            <a:avLst/>
          </a:prstGeom>
          <a:solidFill>
            <a:srgbClr val="A61B3D"/>
          </a:solidFill>
          <a:ln/>
        </p:spPr>
      </p:sp>
      <p:sp>
        <p:nvSpPr>
          <p:cNvPr id="24" name="Shape 21"/>
          <p:cNvSpPr/>
          <p:nvPr/>
        </p:nvSpPr>
        <p:spPr>
          <a:xfrm>
            <a:off x="10073030" y="2285086"/>
            <a:ext cx="566928" cy="566928"/>
          </a:xfrm>
          <a:prstGeom prst="ellipse">
            <a:avLst/>
          </a:prstGeom>
          <a:solidFill>
            <a:srgbClr val="2B0812"/>
          </a:solidFill>
          <a:ln/>
        </p:spPr>
      </p:sp>
      <p:pic>
        <p:nvPicPr>
          <p:cNvPr id="25" name="Image 1" descr="/home/claude/bus-deck/icons/bus-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731" y="2358786"/>
            <a:ext cx="419527" cy="419527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640080" y="507492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4A0E1E"/>
          </a:solidFill>
          <a:ln/>
        </p:spPr>
      </p:sp>
      <p:sp>
        <p:nvSpPr>
          <p:cNvPr id="27" name="Shape 23"/>
          <p:cNvSpPr/>
          <p:nvPr/>
        </p:nvSpPr>
        <p:spPr>
          <a:xfrm>
            <a:off x="859536" y="5280660"/>
            <a:ext cx="502920" cy="502920"/>
          </a:xfrm>
          <a:prstGeom prst="ellipse">
            <a:avLst/>
          </a:prstGeom>
          <a:solidFill>
            <a:srgbClr val="2B0812"/>
          </a:solidFill>
          <a:ln/>
        </p:spPr>
      </p:sp>
      <p:pic>
        <p:nvPicPr>
          <p:cNvPr id="28" name="Image 2" descr="/home/claude/bus-deck/icons/map-marked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916" y="5346040"/>
            <a:ext cx="372161" cy="372161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508760" y="5074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GPS tracking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4389120" y="507492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4A0E1E"/>
          </a:solidFill>
          <a:ln/>
        </p:spPr>
      </p:sp>
      <p:sp>
        <p:nvSpPr>
          <p:cNvPr id="31" name="Shape 26"/>
          <p:cNvSpPr/>
          <p:nvPr/>
        </p:nvSpPr>
        <p:spPr>
          <a:xfrm>
            <a:off x="4608576" y="5280660"/>
            <a:ext cx="502920" cy="502920"/>
          </a:xfrm>
          <a:prstGeom prst="ellipse">
            <a:avLst/>
          </a:prstGeom>
          <a:solidFill>
            <a:srgbClr val="2B0812"/>
          </a:solidFill>
          <a:ln/>
        </p:spPr>
      </p:sp>
      <p:pic>
        <p:nvPicPr>
          <p:cNvPr id="32" name="Image 3" descr="/home/claude/bus-deck/icons/user-check-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956" y="5346040"/>
            <a:ext cx="372161" cy="372161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57800" y="5074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student journeys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8138160" y="507492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4A0E1E"/>
          </a:solidFill>
          <a:ln/>
        </p:spPr>
      </p:sp>
      <p:sp>
        <p:nvSpPr>
          <p:cNvPr id="35" name="Shape 29"/>
          <p:cNvSpPr/>
          <p:nvPr/>
        </p:nvSpPr>
        <p:spPr>
          <a:xfrm>
            <a:off x="8357616" y="5280660"/>
            <a:ext cx="502920" cy="502920"/>
          </a:xfrm>
          <a:prstGeom prst="ellipse">
            <a:avLst/>
          </a:prstGeom>
          <a:solidFill>
            <a:srgbClr val="2B0812"/>
          </a:solidFill>
          <a:ln/>
        </p:spPr>
      </p:sp>
      <p:pic>
        <p:nvPicPr>
          <p:cNvPr id="36" name="Image 4" descr="/home/claude/bus-deck/icons/bell-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2996" y="5346040"/>
            <a:ext cx="372161" cy="372161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006840" y="5074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safety alerts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Background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school transportation needs better visibility and safety controls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377440"/>
            <a:ext cx="685800" cy="685800"/>
          </a:xfrm>
          <a:prstGeom prst="ellipse">
            <a:avLst/>
          </a:prstGeom>
          <a:solidFill>
            <a:srgbClr val="F3D9DE"/>
          </a:solidFill>
          <a:ln/>
        </p:spPr>
      </p:sp>
      <p:pic>
        <p:nvPicPr>
          <p:cNvPr id="7" name="Image 0" descr="/home/claude/bus-deck/icons/eye-slash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274" y="2466594"/>
            <a:ext cx="507492" cy="5074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2278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visibility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359359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have little real-time information about the bus location or arrival time.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205740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377440"/>
            <a:ext cx="685800" cy="685800"/>
          </a:xfrm>
          <a:prstGeom prst="ellipse">
            <a:avLst/>
          </a:prstGeom>
          <a:solidFill>
            <a:srgbClr val="F3D9DE"/>
          </a:solidFill>
          <a:ln/>
        </p:spPr>
      </p:sp>
      <p:pic>
        <p:nvPicPr>
          <p:cNvPr id="12" name="Image 1" descr="/home/claude/bus-deck/icons/clock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314" y="2466594"/>
            <a:ext cx="507492" cy="5074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2278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response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09160" y="359359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calls and communication can slow response to delays, route deviations, or emergencies.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205740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8200" y="2377440"/>
            <a:ext cx="685800" cy="685800"/>
          </a:xfrm>
          <a:prstGeom prst="ellipse">
            <a:avLst/>
          </a:prstGeom>
          <a:solidFill>
            <a:srgbClr val="F3D9DE"/>
          </a:solidFill>
          <a:ln/>
        </p:spPr>
      </p:sp>
      <p:pic>
        <p:nvPicPr>
          <p:cNvPr id="17" name="Image 2" descr="/home/claude/bus-deck/icons/user-check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354" y="2466594"/>
            <a:ext cx="507492" cy="5074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32278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verification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58200" y="359359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location alone does not confirm whether a particular student has boarded or reached the destination.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709160"/>
            <a:ext cx="10908792" cy="1417320"/>
          </a:xfrm>
          <a:prstGeom prst="roundRect">
            <a:avLst>
              <a:gd name="adj" fmla="val 6452"/>
            </a:avLst>
          </a:prstGeom>
          <a:solidFill>
            <a:srgbClr val="4A0E1E"/>
          </a:solidFill>
          <a:ln/>
        </p:spPr>
      </p:sp>
      <p:sp>
        <p:nvSpPr>
          <p:cNvPr id="21" name="Shape 16"/>
          <p:cNvSpPr/>
          <p:nvPr/>
        </p:nvSpPr>
        <p:spPr>
          <a:xfrm>
            <a:off x="914400" y="4983480"/>
            <a:ext cx="822960" cy="822960"/>
          </a:xfrm>
          <a:prstGeom prst="ellipse">
            <a:avLst/>
          </a:prstGeom>
          <a:solidFill>
            <a:srgbClr val="2B0812"/>
          </a:solidFill>
          <a:ln/>
        </p:spPr>
      </p:sp>
      <p:pic>
        <p:nvPicPr>
          <p:cNvPr id="22" name="Image 3" descr="/home/claude/bus-deck/icons/bullseye-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385" y="5090465"/>
            <a:ext cx="608990" cy="6089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6596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6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965960" y="5193792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Parents need to know not only WHERE the bus is, but WHERE their child is in the journey.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centralized portal connecting buses, students, parents and school authorities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495648" y="2788920"/>
            <a:ext cx="3200400" cy="2286000"/>
          </a:xfrm>
          <a:prstGeom prst="roundRect">
            <a:avLst>
              <a:gd name="adj" fmla="val 4800"/>
            </a:avLst>
          </a:prstGeom>
          <a:solidFill>
            <a:srgbClr val="4A0E1E"/>
          </a:solidFill>
          <a:ln/>
          <a:effectLst>
            <a:outerShdw sx="100000" sy="100000" kx="0" ky="0" algn="bl" rotWithShape="0" blurRad="177800" dist="50800" dir="5400000">
              <a:srgbClr val="4A0E1E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30088" y="3044952"/>
            <a:ext cx="731520" cy="731520"/>
          </a:xfrm>
          <a:prstGeom prst="ellipse">
            <a:avLst/>
          </a:prstGeom>
          <a:solidFill>
            <a:srgbClr val="2B0812"/>
          </a:solidFill>
          <a:ln/>
        </p:spPr>
      </p:sp>
      <p:pic>
        <p:nvPicPr>
          <p:cNvPr id="7" name="Image 0" descr="/home/claude/bus-deck/icons/shield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5185" y="3140050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32808" y="3840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PORTAL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815688" y="4206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3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bus tracking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3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journey history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3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alerts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3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monitoring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219456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CD9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96112" y="2450592"/>
            <a:ext cx="566928" cy="566928"/>
          </a:xfrm>
          <a:prstGeom prst="ellipse">
            <a:avLst/>
          </a:prstGeom>
          <a:solidFill>
            <a:srgbClr val="F3D9DE"/>
          </a:solidFill>
          <a:ln/>
        </p:spPr>
      </p:sp>
      <p:pic>
        <p:nvPicPr>
          <p:cNvPr id="12" name="Image 1" descr="/home/claude/bus-deck/icons/bus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813" y="2524293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96112" y="3108960"/>
            <a:ext cx="2093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 Bus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96112" y="3401568"/>
            <a:ext cx="2093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location and route data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915400" y="219456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CD9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71432" y="2450592"/>
            <a:ext cx="566928" cy="566928"/>
          </a:xfrm>
          <a:prstGeom prst="ellipse">
            <a:avLst/>
          </a:prstGeom>
          <a:solidFill>
            <a:srgbClr val="F3D9DE"/>
          </a:solidFill>
          <a:ln/>
        </p:spPr>
      </p:sp>
      <p:pic>
        <p:nvPicPr>
          <p:cNvPr id="17" name="Image 2" descr="/home/claude/bus-deck/icons/users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133" y="2524293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71432" y="3108960"/>
            <a:ext cx="2093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9171432" y="3401568"/>
            <a:ext cx="2093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and instant alerts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40080" y="443484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CD9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96112" y="4690872"/>
            <a:ext cx="566928" cy="566928"/>
          </a:xfrm>
          <a:prstGeom prst="ellipse">
            <a:avLst/>
          </a:prstGeom>
          <a:solidFill>
            <a:srgbClr val="F3D9DE"/>
          </a:solidFill>
          <a:ln/>
        </p:spPr>
      </p:sp>
      <p:pic>
        <p:nvPicPr>
          <p:cNvPr id="22" name="Image 3" descr="/home/claude/bus-deck/icons/child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813" y="4764573"/>
            <a:ext cx="419527" cy="41952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6112" y="5349240"/>
            <a:ext cx="2093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96112" y="5641848"/>
            <a:ext cx="2093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 and alighting records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8915400" y="443484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CD9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171432" y="4690872"/>
            <a:ext cx="566928" cy="566928"/>
          </a:xfrm>
          <a:prstGeom prst="ellipse">
            <a:avLst/>
          </a:prstGeom>
          <a:solidFill>
            <a:srgbClr val="F3D9DE"/>
          </a:solidFill>
          <a:ln/>
        </p:spPr>
      </p:sp>
      <p:pic>
        <p:nvPicPr>
          <p:cNvPr id="27" name="Image 4" descr="/home/claude/bus-deck/icons/school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5133" y="4764573"/>
            <a:ext cx="419527" cy="41952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71432" y="5349240"/>
            <a:ext cx="2093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9171432" y="5641848"/>
            <a:ext cx="2093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buses and safety events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246120" y="3017520"/>
            <a:ext cx="1249528" cy="914400"/>
          </a:xfrm>
          <a:prstGeom prst="line">
            <a:avLst/>
          </a:prstGeom>
          <a:noFill/>
          <a:ln w="19050">
            <a:solidFill>
              <a:srgbClr val="DCC0C6"/>
            </a:solidFill>
            <a:prstDash val="dash"/>
          </a:ln>
        </p:spPr>
      </p:sp>
      <p:sp>
        <p:nvSpPr>
          <p:cNvPr id="31" name="Shape 24"/>
          <p:cNvSpPr/>
          <p:nvPr/>
        </p:nvSpPr>
        <p:spPr>
          <a:xfrm>
            <a:off x="7696048" y="3657600"/>
            <a:ext cx="1219352" cy="-640080"/>
          </a:xfrm>
          <a:prstGeom prst="line">
            <a:avLst/>
          </a:prstGeom>
          <a:noFill/>
          <a:ln w="19050">
            <a:solidFill>
              <a:srgbClr val="DCC0C6"/>
            </a:solidFill>
            <a:prstDash val="dash"/>
          </a:ln>
        </p:spPr>
      </p:sp>
      <p:sp>
        <p:nvSpPr>
          <p:cNvPr id="32" name="Shape 25"/>
          <p:cNvSpPr/>
          <p:nvPr/>
        </p:nvSpPr>
        <p:spPr>
          <a:xfrm>
            <a:off x="3246120" y="5257800"/>
            <a:ext cx="1249528" cy="-1325880"/>
          </a:xfrm>
          <a:prstGeom prst="line">
            <a:avLst/>
          </a:prstGeom>
          <a:noFill/>
          <a:ln w="19050">
            <a:solidFill>
              <a:srgbClr val="DCC0C6"/>
            </a:solidFill>
            <a:prstDash val="dash"/>
          </a:ln>
        </p:spPr>
      </p:sp>
      <p:sp>
        <p:nvSpPr>
          <p:cNvPr id="33" name="Shape 26"/>
          <p:cNvSpPr/>
          <p:nvPr/>
        </p:nvSpPr>
        <p:spPr>
          <a:xfrm>
            <a:off x="7696048" y="4206240"/>
            <a:ext cx="1219352" cy="1051560"/>
          </a:xfrm>
          <a:prstGeom prst="line">
            <a:avLst/>
          </a:prstGeom>
          <a:noFill/>
          <a:ln w="19050">
            <a:solidFill>
              <a:srgbClr val="DCC0C6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Modules Applied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from Database Systems Engineering &amp; Distributed Backend Development used in this project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54680" y="2331720"/>
            <a:ext cx="566928" cy="566928"/>
          </a:xfrm>
          <a:prstGeom prst="ellipse">
            <a:avLst/>
          </a:prstGeom>
          <a:solidFill>
            <a:srgbClr val="F3D9DE"/>
          </a:solidFill>
          <a:ln/>
        </p:spPr>
      </p:sp>
      <p:pic>
        <p:nvPicPr>
          <p:cNvPr id="8" name="Image 0" descr="/home/claude/bus-deck/icons/database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8381" y="2405421"/>
            <a:ext cx="419527" cy="41952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15468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Database Engineering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389120" y="20574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6344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03720" y="2331720"/>
            <a:ext cx="566928" cy="566928"/>
          </a:xfrm>
          <a:prstGeom prst="ellipse">
            <a:avLst/>
          </a:prstGeom>
          <a:solidFill>
            <a:srgbClr val="F3D9DE"/>
          </a:solidFill>
          <a:ln/>
        </p:spPr>
      </p:sp>
      <p:pic>
        <p:nvPicPr>
          <p:cNvPr id="13" name="Image 1" descr="/home/claude/bus-deck/icons/layer-group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421" y="2405421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15468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Data Integration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8138160" y="20574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41248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10652760" y="2331720"/>
            <a:ext cx="566928" cy="566928"/>
          </a:xfrm>
          <a:prstGeom prst="ellipse">
            <a:avLst/>
          </a:prstGeom>
          <a:solidFill>
            <a:srgbClr val="F3D9DE"/>
          </a:solidFill>
          <a:ln/>
        </p:spPr>
      </p:sp>
      <p:pic>
        <p:nvPicPr>
          <p:cNvPr id="18" name="Image 2" descr="/home/claude/bus-deck/icons/code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6461" y="2405421"/>
            <a:ext cx="419527" cy="4195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315468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 Engineering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640080" y="429768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914400" y="4526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3154680" y="4572000"/>
            <a:ext cx="566928" cy="566928"/>
          </a:xfrm>
          <a:prstGeom prst="ellipse">
            <a:avLst/>
          </a:prstGeom>
          <a:solidFill>
            <a:srgbClr val="F3D9DE"/>
          </a:solidFill>
          <a:ln/>
        </p:spPr>
      </p:sp>
      <p:pic>
        <p:nvPicPr>
          <p:cNvPr id="23" name="Image 3" descr="/home/claude/bus-deck/icons/bolt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381" y="4645701"/>
            <a:ext cx="419527" cy="41952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4400" y="539496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&amp; Notifications</a:t>
            </a:r>
            <a:endParaRPr lang="en-US" sz="1550" dirty="0"/>
          </a:p>
        </p:txBody>
      </p:sp>
      <p:sp>
        <p:nvSpPr>
          <p:cNvPr id="25" name="Shape 19"/>
          <p:cNvSpPr/>
          <p:nvPr/>
        </p:nvSpPr>
        <p:spPr>
          <a:xfrm>
            <a:off x="4389120" y="429768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4663440" y="4526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6903720" y="4572000"/>
            <a:ext cx="566928" cy="566928"/>
          </a:xfrm>
          <a:prstGeom prst="ellipse">
            <a:avLst/>
          </a:prstGeom>
          <a:solidFill>
            <a:srgbClr val="F3D9DE"/>
          </a:solidFill>
          <a:ln/>
        </p:spPr>
      </p:sp>
      <p:pic>
        <p:nvPicPr>
          <p:cNvPr id="28" name="Image 4" descr="/home/claude/bus-deck/icons/project-diagram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7421" y="4645701"/>
            <a:ext cx="419527" cy="41952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663440" y="539496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Architecture</a:t>
            </a:r>
            <a:endParaRPr lang="en-US" sz="1550" dirty="0"/>
          </a:p>
        </p:txBody>
      </p:sp>
      <p:sp>
        <p:nvSpPr>
          <p:cNvPr id="30" name="Shape 23"/>
          <p:cNvSpPr/>
          <p:nvPr/>
        </p:nvSpPr>
        <p:spPr>
          <a:xfrm>
            <a:off x="8138160" y="429768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8412480" y="4526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10652760" y="4572000"/>
            <a:ext cx="566928" cy="566928"/>
          </a:xfrm>
          <a:prstGeom prst="ellipse">
            <a:avLst/>
          </a:prstGeom>
          <a:solidFill>
            <a:srgbClr val="F3D9DE"/>
          </a:solidFill>
          <a:ln/>
        </p:spPr>
      </p:sp>
      <p:pic>
        <p:nvPicPr>
          <p:cNvPr id="33" name="Image 5" descr="/home/claude/bus-deck/icons/box-open-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6461" y="4645701"/>
            <a:ext cx="419527" cy="41952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412480" y="539496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Observability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designed around real-world student safety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240280"/>
            <a:ext cx="621792" cy="621792"/>
          </a:xfrm>
          <a:prstGeom prst="ellipse">
            <a:avLst/>
          </a:prstGeom>
          <a:solidFill>
            <a:srgbClr val="F3D9DE"/>
          </a:solidFill>
          <a:ln/>
        </p:spPr>
      </p:sp>
      <p:pic>
        <p:nvPicPr>
          <p:cNvPr id="7" name="Image 0" descr="/home/claude/bus-deck/icons/map-marked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521" y="2321113"/>
            <a:ext cx="460126" cy="4601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2953512"/>
            <a:ext cx="2843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Bus Tracking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32688" y="3282696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location shown on Google Maps.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196596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81728" y="2240280"/>
            <a:ext cx="621792" cy="621792"/>
          </a:xfrm>
          <a:prstGeom prst="ellipse">
            <a:avLst/>
          </a:prstGeom>
          <a:solidFill>
            <a:srgbClr val="F3D9DE"/>
          </a:solidFill>
          <a:ln/>
        </p:spPr>
      </p:sp>
      <p:pic>
        <p:nvPicPr>
          <p:cNvPr id="12" name="Image 1" descr="/home/claude/bus-deck/icons/clipboard-check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61" y="2321113"/>
            <a:ext cx="460126" cy="4601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81728" y="2953512"/>
            <a:ext cx="2843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Boarding &amp; Alighting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81728" y="3282696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when each student enters and exits.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196596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30768" y="2240280"/>
            <a:ext cx="621792" cy="621792"/>
          </a:xfrm>
          <a:prstGeom prst="ellipse">
            <a:avLst/>
          </a:prstGeom>
          <a:solidFill>
            <a:srgbClr val="F3D9DE"/>
          </a:solidFill>
          <a:ln/>
        </p:spPr>
      </p:sp>
      <p:pic>
        <p:nvPicPr>
          <p:cNvPr id="17" name="Image 2" descr="/home/claude/bus-deck/icons/bell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601" y="2321113"/>
            <a:ext cx="460126" cy="4601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30768" y="2953512"/>
            <a:ext cx="2843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Notifications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430768" y="3282696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journey updates and safety alerts.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42062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2688" y="4480560"/>
            <a:ext cx="621792" cy="621792"/>
          </a:xfrm>
          <a:prstGeom prst="ellipse">
            <a:avLst/>
          </a:prstGeom>
          <a:solidFill>
            <a:srgbClr val="F3D9DE"/>
          </a:solidFill>
          <a:ln/>
        </p:spPr>
      </p:sp>
      <p:pic>
        <p:nvPicPr>
          <p:cNvPr id="22" name="Image 3" descr="/home/claude/bus-deck/icons/draw-polygon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21" y="4561393"/>
            <a:ext cx="460126" cy="46012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" y="5193792"/>
            <a:ext cx="2843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Geofencing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32688" y="5522976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school and stop zones.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89120" y="42062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81728" y="4480560"/>
            <a:ext cx="621792" cy="621792"/>
          </a:xfrm>
          <a:prstGeom prst="ellipse">
            <a:avLst/>
          </a:prstGeom>
          <a:solidFill>
            <a:srgbClr val="F3D9DE"/>
          </a:solidFill>
          <a:ln/>
        </p:spPr>
      </p:sp>
      <p:pic>
        <p:nvPicPr>
          <p:cNvPr id="27" name="Image 4" descr="/home/claude/bus-deck/icons/route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61" y="4561393"/>
            <a:ext cx="460126" cy="46012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81728" y="5193792"/>
            <a:ext cx="2843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Deviation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681728" y="5522976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unexpected movement from the planned route.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38160" y="42062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4A0E1E"/>
          </a:solidFill>
          <a:ln/>
          <a:effectLst>
            <a:outerShdw sx="100000" sy="100000" kx="0" ky="0" algn="bl" rotWithShape="0" blurRad="114300" dist="25400" dir="5400000">
              <a:srgbClr val="000000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30768" y="4480560"/>
            <a:ext cx="621792" cy="621792"/>
          </a:xfrm>
          <a:prstGeom prst="ellipse">
            <a:avLst/>
          </a:prstGeom>
          <a:solidFill>
            <a:srgbClr val="2B0812"/>
          </a:solidFill>
          <a:ln/>
        </p:spPr>
      </p:sp>
      <p:pic>
        <p:nvPicPr>
          <p:cNvPr id="32" name="Image 5" descr="/home/claude/bus-deck/icons/triangle-exclaim-cor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1601" y="4561393"/>
            <a:ext cx="460126" cy="46012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430768" y="5193792"/>
            <a:ext cx="2843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SOS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430768" y="5522976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3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school authorities with current bus location.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Expected Impact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stack and value delivered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989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208276"/>
            <a:ext cx="566928" cy="566928"/>
          </a:xfrm>
          <a:prstGeom prst="ellipse">
            <a:avLst/>
          </a:prstGeom>
          <a:solidFill>
            <a:srgbClr val="F3D9DE"/>
          </a:solidFill>
          <a:ln/>
        </p:spPr>
      </p:sp>
      <p:pic>
        <p:nvPicPr>
          <p:cNvPr id="7" name="Image 0" descr="/home/claude/bus-deck/icons/react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237" y="2281977"/>
            <a:ext cx="419527" cy="4195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15798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600200" y="244144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|  HTML5  |  CSS3  |  JavaScript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3154680"/>
            <a:ext cx="5989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59536" y="3351276"/>
            <a:ext cx="566928" cy="566928"/>
          </a:xfrm>
          <a:prstGeom prst="ellipse">
            <a:avLst/>
          </a:prstGeom>
          <a:solidFill>
            <a:srgbClr val="F3D9DE"/>
          </a:solidFill>
          <a:ln/>
        </p:spPr>
      </p:sp>
      <p:pic>
        <p:nvPicPr>
          <p:cNvPr id="12" name="Image 1" descr="/home/claude/bus-deck/icons/server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237" y="3424977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30098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600200" y="358444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|  Express.js  |  MySQL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4297680"/>
            <a:ext cx="5989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9536" y="4494276"/>
            <a:ext cx="566928" cy="566928"/>
          </a:xfrm>
          <a:prstGeom prst="ellipse">
            <a:avLst/>
          </a:prstGeom>
          <a:solidFill>
            <a:srgbClr val="F3D9DE"/>
          </a:solidFill>
          <a:ln/>
        </p:spPr>
      </p:sp>
      <p:pic>
        <p:nvPicPr>
          <p:cNvPr id="17" name="Image 2" descr="/home/claude/bus-deck/icons/broadcast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237" y="4567977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44398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&amp; NOTIFICATIONS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600200" y="472744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Device API  |  Google Maps API  |  Firebase Cloud Messaging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5440680"/>
            <a:ext cx="5989320" cy="868680"/>
          </a:xfrm>
          <a:prstGeom prst="roundRect">
            <a:avLst>
              <a:gd name="adj" fmla="val 8421"/>
            </a:avLst>
          </a:prstGeom>
          <a:solidFill>
            <a:srgbClr val="4A0E1E"/>
          </a:solidFill>
          <a:ln/>
        </p:spPr>
      </p:sp>
      <p:sp>
        <p:nvSpPr>
          <p:cNvPr id="21" name="Shape 16"/>
          <p:cNvSpPr/>
          <p:nvPr/>
        </p:nvSpPr>
        <p:spPr>
          <a:xfrm>
            <a:off x="841248" y="5646420"/>
            <a:ext cx="457200" cy="457200"/>
          </a:xfrm>
          <a:prstGeom prst="ellipse">
            <a:avLst/>
          </a:prstGeom>
          <a:solidFill>
            <a:srgbClr val="2B0812"/>
          </a:solidFill>
          <a:ln/>
        </p:spPr>
      </p:sp>
      <p:pic>
        <p:nvPicPr>
          <p:cNvPr id="22" name="Image 3" descr="/home/claude/bus-deck/icons/quote-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5705856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544068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Parents should know not only where the bus is — but where their child is.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949440" y="2011680"/>
            <a:ext cx="4617720" cy="4297680"/>
          </a:xfrm>
          <a:prstGeom prst="roundRect">
            <a:avLst>
              <a:gd name="adj" fmla="val 2128"/>
            </a:avLst>
          </a:prstGeom>
          <a:solidFill>
            <a:srgbClr val="4A0E1E"/>
          </a:solidFill>
          <a:ln/>
          <a:effectLst>
            <a:outerShdw sx="100000" sy="100000" kx="0" ky="0" algn="bl" rotWithShape="0" blurRad="152400" dist="38100" dir="5400000">
              <a:srgbClr val="4A0E1E">
                <a:alpha val="25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269480" y="22860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A6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150" dirty="0"/>
          </a:p>
        </p:txBody>
      </p:sp>
      <p:pic>
        <p:nvPicPr>
          <p:cNvPr id="26" name="Image 4" descr="/home/claude/bus-deck/icons/check-circle-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278892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80960" y="27614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transparency for parents</a:t>
            </a:r>
            <a:endParaRPr lang="en-US" sz="1200" dirty="0"/>
          </a:p>
        </p:txBody>
      </p:sp>
      <p:pic>
        <p:nvPicPr>
          <p:cNvPr id="28" name="Image 5" descr="/home/claude/bus-deck/icons/check-circle-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3355848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680960" y="332841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accountability for student journeys</a:t>
            </a:r>
            <a:endParaRPr lang="en-US" sz="1200" dirty="0"/>
          </a:p>
        </p:txBody>
      </p:sp>
      <p:pic>
        <p:nvPicPr>
          <p:cNvPr id="30" name="Image 6" descr="/home/claude/bus-deck/icons/check-circle-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0" y="3922776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680960" y="389534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identification of safety issues</a:t>
            </a:r>
            <a:endParaRPr lang="en-US" sz="1200" dirty="0"/>
          </a:p>
        </p:txBody>
      </p:sp>
      <p:pic>
        <p:nvPicPr>
          <p:cNvPr id="32" name="Image 7" descr="/home/claude/bus-deck/icons/check-circle-amb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480" y="4489704"/>
            <a:ext cx="292608" cy="29260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680960" y="44622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communication gaps</a:t>
            </a:r>
            <a:endParaRPr lang="en-US" sz="1200" dirty="0"/>
          </a:p>
        </p:txBody>
      </p:sp>
      <p:pic>
        <p:nvPicPr>
          <p:cNvPr id="34" name="Image 8" descr="/home/claude/bus-deck/icons/check-circle-amb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9480" y="5056632"/>
            <a:ext cx="292608" cy="29260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680960" y="5029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Safer, more reliable school transportation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023360" cy="4023360"/>
          </a:xfrm>
          <a:prstGeom prst="ellipse">
            <a:avLst/>
          </a:prstGeom>
          <a:solidFill>
            <a:srgbClr val="4A0E1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solidFill>
            <a:srgbClr val="A61B3D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47208" y="1234440"/>
            <a:ext cx="1097280" cy="1097280"/>
          </a:xfrm>
          <a:prstGeom prst="ellipse">
            <a:avLst/>
          </a:prstGeom>
          <a:solidFill>
            <a:srgbClr val="4A0E1E"/>
          </a:solidFill>
          <a:ln/>
        </p:spPr>
      </p:sp>
      <p:pic>
        <p:nvPicPr>
          <p:cNvPr id="5" name="Image 0" descr="/home/claude/bus-deck/icons/bus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9854" y="1377086"/>
            <a:ext cx="811987" cy="8119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06040"/>
            <a:ext cx="12191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6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438248" y="4160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3C9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 Every journey should end safely. ”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0" y="50749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Moksha   •   Gayatri   •   Anshu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0" y="544068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2520030515   •   2520030600   •   2520030440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2026-08-12T09:22:56Z</dcterms:created>
  <dcterms:modified xsi:type="dcterms:W3CDTF">2026-08-12T09:22:56Z</dcterms:modified>
</cp:coreProperties>
</file>